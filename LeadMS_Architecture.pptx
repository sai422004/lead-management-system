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60604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343400"/>
            <a:ext cx="9144000" cy="45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-91440"/>
            <a:ext cx="2560320" cy="2560320"/>
          </a:xfrm>
          <a:prstGeom prst="ellipse">
            <a:avLst/>
          </a:prstGeom>
          <a:solidFill>
            <a:srgbClr val="00D4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LeadMS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Lead Management System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Overview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44906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8449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03274" y="3108960"/>
            <a:ext cx="109728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3274" y="3108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10282" y="3108960"/>
            <a:ext cx="109728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0282" y="3108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17290" y="3108960"/>
            <a:ext cx="92903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7290" y="3108960"/>
            <a:ext cx="929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56048" y="3108960"/>
            <a:ext cx="508406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108960"/>
            <a:ext cx="5084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4182" y="3108960"/>
            <a:ext cx="760781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4182" y="3108960"/>
            <a:ext cx="7607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4691" y="3108960"/>
            <a:ext cx="109728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4691" y="3108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Secure · Containerized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System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606040" cy="73152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Bootstrap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served via Nginx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0604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Port 5000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060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26060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17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993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Docker local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71800" y="2148840"/>
            <a:ext cx="274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2953512" y="2075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2148840"/>
            <a:ext cx="274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5833872" y="20756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364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336499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 →  Axios HTTP  →  Express REST API  →  pg Pool  →  PostgreSQL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65176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23360"/>
            <a:ext cx="54864" cy="841248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(SMTP)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email notifications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4023360"/>
            <a:ext cx="265176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4023360"/>
            <a:ext cx="54864" cy="8412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(7d) + Refresh tokens (30d)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023360"/>
            <a:ext cx="265176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4023360"/>
            <a:ext cx="54864" cy="8412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postgres, backend, frontend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architecture — Routes → Controllers → Services → DB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3703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lead-management/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581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db/init.sql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84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backend/src/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185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app.js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386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db/index.js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587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middleware/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788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authMiddleware.js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990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errorHandler.js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3191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routes/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3392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controllers/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593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services/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794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frontend/src/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995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App.js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41970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context/AuthContext.js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services/api.js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3977640" cy="3703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1664208"/>
            <a:ext cx="4572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1700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authService.js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10912" y="1901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Refresh · Logout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2258568"/>
            <a:ext cx="45720" cy="50292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2951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leadService.js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10912" y="2496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Filtering · Pagination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2852928"/>
            <a:ext cx="45720" cy="5029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assignmentService.js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10912" y="3090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Least-loaded auto-assignment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447288"/>
            <a:ext cx="457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3483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activityLogService.js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10912" y="3685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4041648"/>
            <a:ext cx="45720" cy="50292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39" name="Text 37"/>
          <p:cNvSpPr/>
          <p:nvPr/>
        </p:nvSpPr>
        <p:spPr>
          <a:xfrm>
            <a:off x="5010912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emailService.js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10912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notifications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4645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is fully separated from HTTP handling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 with role-based access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384048"/>
          </a:xfrm>
          <a:prstGeom prst="rect">
            <a:avLst/>
          </a:prstGeom>
          <a:solidFill>
            <a:srgbClr val="00FF9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739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name, email,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role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70432" y="22494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39572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email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" y="28712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(12 rounds)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6393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user to DB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70432" y="41148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0624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261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user object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87168" y="1234440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87168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1737360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42032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61488" y="17739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email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22494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87168" y="2359152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42032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61488" y="239572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91840" y="28712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87168" y="2980944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42032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61488" y="30175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JWT access token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days)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91840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7168" y="3602736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42032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61488" y="36393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refresh token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days, DB stored)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91840" y="41148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87168" y="4224528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42032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61488" y="4261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tokens + user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08576" y="1234440"/>
            <a:ext cx="2011680" cy="384048"/>
          </a:xfrm>
          <a:prstGeom prst="rect">
            <a:avLst/>
          </a:prstGeom>
          <a:solidFill>
            <a:srgbClr val="FF9900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08576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08576" y="1737360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6344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82896" y="17739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&lt;token&gt;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13248" y="22494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08576" y="2359152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63440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82896" y="239572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extracts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verifies token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13248" y="28712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08576" y="2980944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66344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82896" y="30175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full user from DB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13248" y="3493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08576" y="3602736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663440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882896" y="363931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is_active flag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(403 if inactive)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13248" y="41148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↓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08576" y="4224528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663440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82896" y="426110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req.user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729984" y="1234440"/>
            <a:ext cx="2011680" cy="384048"/>
          </a:xfrm>
          <a:prstGeom prst="rect">
            <a:avLst/>
          </a:prstGeom>
          <a:solidFill>
            <a:srgbClr val="FF5555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729984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729984" y="1737360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784848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04304" y="177393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34656" y="22494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555"/>
                </a:solidFill>
              </a:rPr>
              <a:t>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729984" y="2359152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784848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004304" y="239572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Create/update/delete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leads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534656" y="287121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555"/>
                </a:solidFill>
              </a:rPr>
              <a:t>↓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29984" y="2980944"/>
            <a:ext cx="201168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784848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04304" y="30175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leads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 layer enforced)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· UUID PKs · Triggers · Cascade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2024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920240" cy="32918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01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VARCHAR(255)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85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52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(CHECK)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3026664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35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BOOL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3310128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/ updated_at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593592"/>
            <a:ext cx="192024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2"/>
          <p:cNvSpPr/>
          <p:nvPr/>
        </p:nvSpPr>
        <p:spPr>
          <a:xfrm>
            <a:off x="2487168" y="1234440"/>
            <a:ext cx="21031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87168" y="1234440"/>
            <a:ext cx="2103120" cy="32918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6" name="Text 24"/>
          <p:cNvSpPr/>
          <p:nvPr/>
        </p:nvSpPr>
        <p:spPr>
          <a:xfrm>
            <a:off x="2487168" y="1234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78608" y="1618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87168" y="1892808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2578608" y="19019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email, phone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87168" y="2176272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9"/>
          <p:cNvSpPr/>
          <p:nvPr/>
        </p:nvSpPr>
        <p:spPr>
          <a:xfrm>
            <a:off x="2578608" y="21854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(CHECK 5 vals)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87168" y="2459736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2578608" y="2468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(CHECK 6 vals)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87168" y="2743200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2578608" y="27523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 → users.id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87168" y="3026664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2578608" y="3035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TEXT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87168" y="3310128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Text 37"/>
          <p:cNvSpPr/>
          <p:nvPr/>
        </p:nvSpPr>
        <p:spPr>
          <a:xfrm>
            <a:off x="2578608" y="3319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/ updated_at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3593592"/>
            <a:ext cx="210312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Shape 39"/>
          <p:cNvSpPr/>
          <p:nvPr/>
        </p:nvSpPr>
        <p:spPr>
          <a:xfrm>
            <a:off x="4791456" y="1234440"/>
            <a:ext cx="201168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91456" y="1234440"/>
            <a:ext cx="2011680" cy="3291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1234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AGENT_ASSIGNMENT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82896" y="1618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(UUID, PK)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91456" y="1892808"/>
            <a:ext cx="20116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6" name="Text 44"/>
          <p:cNvSpPr/>
          <p:nvPr/>
        </p:nvSpPr>
        <p:spPr>
          <a:xfrm>
            <a:off x="4882896" y="19019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users.id CASCADE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91456" y="2176272"/>
            <a:ext cx="20116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Text 46"/>
          <p:cNvSpPr/>
          <p:nvPr/>
        </p:nvSpPr>
        <p:spPr>
          <a:xfrm>
            <a:off x="4882896" y="2185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lead_count INT (0)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91456" y="2459736"/>
            <a:ext cx="20116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0" name="Text 48"/>
          <p:cNvSpPr/>
          <p:nvPr/>
        </p:nvSpPr>
        <p:spPr>
          <a:xfrm>
            <a:off x="4882896" y="2468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 TIMESTAMP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91456" y="2743200"/>
            <a:ext cx="20116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2" name="Shape 50"/>
          <p:cNvSpPr/>
          <p:nvPr/>
        </p:nvSpPr>
        <p:spPr>
          <a:xfrm>
            <a:off x="7004304" y="1234440"/>
            <a:ext cx="178308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004304" y="1234440"/>
            <a:ext cx="1783080" cy="329184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54" name="Text 52"/>
          <p:cNvSpPr/>
          <p:nvPr/>
        </p:nvSpPr>
        <p:spPr>
          <a:xfrm>
            <a:off x="7004304" y="12344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ACTIVITY_LOGS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95744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004304" y="1892808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7" name="Text 55"/>
          <p:cNvSpPr/>
          <p:nvPr/>
        </p:nvSpPr>
        <p:spPr>
          <a:xfrm>
            <a:off x="7095744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lead_id → leads.id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004304" y="2176272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9" name="Text 57"/>
          <p:cNvSpPr/>
          <p:nvPr/>
        </p:nvSpPr>
        <p:spPr>
          <a:xfrm>
            <a:off x="7095744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performed_by → users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004304" y="2459736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1" name="Text 59"/>
          <p:cNvSpPr/>
          <p:nvPr/>
        </p:nvSpPr>
        <p:spPr>
          <a:xfrm>
            <a:off x="7095744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VARCHAR(100)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004304" y="2743200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3" name="Text 61"/>
          <p:cNvSpPr/>
          <p:nvPr/>
        </p:nvSpPr>
        <p:spPr>
          <a:xfrm>
            <a:off x="7095744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TEXT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004304" y="3026664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5" name="Text 63"/>
          <p:cNvSpPr/>
          <p:nvPr/>
        </p:nvSpPr>
        <p:spPr>
          <a:xfrm>
            <a:off x="7095744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004304" y="3310128"/>
            <a:ext cx="1783080" cy="36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7" name="Shape 65"/>
          <p:cNvSpPr/>
          <p:nvPr/>
        </p:nvSpPr>
        <p:spPr>
          <a:xfrm>
            <a:off x="2286000" y="2148840"/>
            <a:ext cx="201168" cy="365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8" name="Text 66"/>
          <p:cNvSpPr/>
          <p:nvPr/>
        </p:nvSpPr>
        <p:spPr>
          <a:xfrm>
            <a:off x="2148840" y="20116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FK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608576" y="1938528"/>
            <a:ext cx="201168" cy="365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0" name="Text 68"/>
          <p:cNvSpPr/>
          <p:nvPr/>
        </p:nvSpPr>
        <p:spPr>
          <a:xfrm>
            <a:off x="4480560" y="18013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FK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65760" y="3913632"/>
            <a:ext cx="201168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75488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UUIDs everywhere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75488" y="42245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enumeration attacks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542032" y="3913632"/>
            <a:ext cx="201168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2651760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651760" y="42245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leads if agent removed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18304" y="3913632"/>
            <a:ext cx="201168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828032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→ updated_at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28032" y="42245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Auto-managed timestamps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894576" y="3913632"/>
            <a:ext cx="201168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004304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uuid-ossp extension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04304" y="42245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UUID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Logic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Least-Loaded Agent Strategy — DB-backed, transaction-safe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457200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3167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Manager/Admin creates a new lead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20240"/>
            <a:ext cx="45720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9751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active agents → agent_assignment_tracker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... ON CONFLICT DO NOTHING)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78608"/>
            <a:ext cx="457200" cy="548640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78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633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 with lowest lead_count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Tie-break: oldest updated_at timestamp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127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94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36976"/>
            <a:ext cx="45720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369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lead → UPDATE leads SET assigned_to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785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95344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895344"/>
            <a:ext cx="45720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953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agent lead_count + update timestamp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4439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</a:rPr>
              <a:t>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53712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553712"/>
            <a:ext cx="457200" cy="54864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537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6085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 runs in DB TRANSACTION (atomic)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285232"/>
            <a:ext cx="50292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55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5321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Lead Deletion: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53218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lead_count is DECREMENTED inside transaction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1261872"/>
            <a:ext cx="3017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97880" y="1335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Strategy?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97880" y="1682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in-memory state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80760" y="18836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 single source of truth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97880" y="21579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Survives restarts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80760" y="2359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by design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97880" y="2633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Easily swappable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80760" y="2834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BY for round-robin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97880" y="3108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Concurrency-safe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80760" y="3310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atomicity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Considerations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horizontal scale from day 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Stateless JWT 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backend instance can validate tokens — horizontally scalable without shared session store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73552" y="126187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261872"/>
            <a:ext cx="2697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DB-Level Assignment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in-memory state between instances — DB is single source of truth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26187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261872"/>
            <a:ext cx="2697480" cy="64008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Dockerized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16276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ECS, Railway, Render — deploy anywhere with container orchestration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35915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59152"/>
            <a:ext cx="2697480" cy="640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Pagination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 endpoints paginated (default 10, max 100) — prevents large payloads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73552" y="235915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2359152"/>
            <a:ext cx="2697480" cy="64008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Fire-and-Forget Email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failures never block business operations — async, non-blocking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81344" y="2359152"/>
            <a:ext cx="2697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2359152"/>
            <a:ext cx="269748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91072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Env-Based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switch local PostgreSQL ↔ Supabase cloud via env vars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Trade-offs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Refresh tokens in DB (auditable) vs Redis (faster but adds infra complexity)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Nodemailer over SendGrid/SES — zero cost for demo; transport is easily swappable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Context API vs Redux — sufficient scope; avoids unnecessary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and how they were solved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61872"/>
            <a:ext cx="2697480" cy="54864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in Assignment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609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Race conditions under concurrent requests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DB transactions (BEGIN/COMMIT/ROLLBACK) for atomicity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73552" y="1261872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261872"/>
            <a:ext cx="269748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Data Scoping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609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Agents must ONLY see their own leads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Enforced at service layer for both listLeads &amp; getLeadById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81344" y="1261872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261872"/>
            <a:ext cx="2697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Reliability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91072" y="1609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SMTP can fail or be unconfigured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91072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Fire-and-forget (.catch) + env check for graceful degradation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615184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15184"/>
            <a:ext cx="2697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Isolation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2962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Logging failures must not crash main request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Wrapped in try-catch — audit trail is best-effort, not blocking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73552" y="2615184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615184"/>
            <a:ext cx="2697480" cy="5486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Count Accuracy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2962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Delete without decrement → imbalanced assignment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decrementAgentCount() inside transaction on lead deletion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81344" y="2615184"/>
            <a:ext cx="269748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2615184"/>
            <a:ext cx="2697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Security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1072" y="2962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Securing refresh tokens with proper invalidation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91072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DB-backed storage + expiry + invalidation on logout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With More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production-grade enhancements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81328" y="1335024"/>
            <a:ext cx="457200" cy="18288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38912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Updates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193852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when leads are assigned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48840" y="1261872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335024"/>
            <a:ext cx="457200" cy="18288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21992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2199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Docs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21992" y="193852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API docs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31920" y="1261872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47488" y="1335024"/>
            <a:ext cx="45720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05072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0507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05072" y="193852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lead listing queries for faster response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15000" y="1261872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0568" y="1335024"/>
            <a:ext cx="45720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788152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8815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Job Queue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88152" y="193852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email sending to reliable worker queue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498080" y="1261872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13648" y="1335024"/>
            <a:ext cx="457200" cy="18288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33" name="Text 31"/>
          <p:cNvSpPr/>
          <p:nvPr/>
        </p:nvSpPr>
        <p:spPr>
          <a:xfrm>
            <a:off x="8613648" y="1335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571232" y="13350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7123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71232" y="193852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Per-IP/user API abuse prevention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2615184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481328" y="2688336"/>
            <a:ext cx="45720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1481328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3891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38912" y="3017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8912" y="32918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lead reports as CSV for managers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148840" y="2615184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64408" y="2688336"/>
            <a:ext cx="457200" cy="1828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5" name="Text 43"/>
          <p:cNvSpPr/>
          <p:nvPr/>
        </p:nvSpPr>
        <p:spPr>
          <a:xfrm>
            <a:off x="3264408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22199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21992" y="3017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21992" y="32918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conversion rates, agent performance charts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931920" y="2615184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47488" y="2688336"/>
            <a:ext cx="45720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1" name="Text 49"/>
          <p:cNvSpPr/>
          <p:nvPr/>
        </p:nvSpPr>
        <p:spPr>
          <a:xfrm>
            <a:off x="5047488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00507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🗑️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005072" y="3017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05072" y="32918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deleted_at column instead of hard deletes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15000" y="2615184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30568" y="2688336"/>
            <a:ext cx="457200" cy="182880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57" name="Text 55"/>
          <p:cNvSpPr/>
          <p:nvPr/>
        </p:nvSpPr>
        <p:spPr>
          <a:xfrm>
            <a:off x="6830568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78815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788152" y="3017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88152" y="32918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&amp; deployment on push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98080" y="2615184"/>
            <a:ext cx="1664208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613648" y="2688336"/>
            <a:ext cx="457200" cy="1828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3" name="Text 61"/>
          <p:cNvSpPr/>
          <p:nvPr/>
        </p:nvSpPr>
        <p:spPr>
          <a:xfrm>
            <a:off x="8613648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57123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571232" y="30175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571232" y="32918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assigned agents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200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292608"/>
            <a:ext cx="795528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overview — every layer explained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1188720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261872"/>
            <a:ext cx="2103120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1261872"/>
            <a:ext cx="4754880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618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1188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664208"/>
            <a:ext cx="54864" cy="42062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16642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0" y="1664208"/>
            <a:ext cx="21031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6642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React.js + Bootstrap 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1664208"/>
            <a:ext cx="489204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6642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with responsive UI — PrivateRoute &amp; AdminRoute guards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84832"/>
            <a:ext cx="11887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84832"/>
            <a:ext cx="54864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20848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45920" y="2084832"/>
            <a:ext cx="21031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20848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Express.js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0" y="2084832"/>
            <a:ext cx="489204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208483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port 5000 — layered architecture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505456"/>
            <a:ext cx="1188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505456"/>
            <a:ext cx="54864" cy="4206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25054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0" y="2505456"/>
            <a:ext cx="21031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5054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2505456"/>
            <a:ext cx="489204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5054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— UUID PKs, triggers, cascade rules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926080"/>
            <a:ext cx="11887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926080"/>
            <a:ext cx="54864" cy="42062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" y="29260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45920" y="2926080"/>
            <a:ext cx="21031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260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+ bcrypt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2926080"/>
            <a:ext cx="489204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9260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(7d access) + secure password hashing (12 rounds)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346704"/>
            <a:ext cx="1188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346704"/>
            <a:ext cx="54864" cy="420624"/>
          </a:xfrm>
          <a:prstGeom prst="rect">
            <a:avLst/>
          </a:prstGeom>
          <a:solidFill>
            <a:srgbClr val="FF5555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" y="334670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0" y="3346704"/>
            <a:ext cx="21031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0" y="33467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Nodemailer (SMTP)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0" y="3346704"/>
            <a:ext cx="489204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34670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status notifications — fire-and-forget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11887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767328"/>
            <a:ext cx="54864" cy="4206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" y="37673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645920" y="3767328"/>
            <a:ext cx="210312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37360" y="37673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+ Docker Compose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40480" y="3767328"/>
            <a:ext cx="4892040" cy="42062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0" y="37673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multi-service — postgres, backend, frontend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187952"/>
            <a:ext cx="1188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4187952"/>
            <a:ext cx="54864" cy="420624"/>
          </a:xfrm>
          <a:prstGeom prst="rect">
            <a:avLst/>
          </a:prstGeom>
          <a:solidFill>
            <a:srgbClr val="00FF94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" y="418795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Serving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645920" y="4187952"/>
            <a:ext cx="21031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37360" y="41879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840480" y="4187952"/>
            <a:ext cx="489204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1920" y="41879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 + reverse proxy for frontend SPA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LeadMS — Built with ❤️ using modern full-stack best practices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LeadMS — Mini Lead Management System</dc:title>
  <dc:subject>PptxGenJS Presentation</dc:subject>
  <dc:creator>PptxGenJS</dc:creator>
  <cp:lastModifiedBy>PptxGenJS</cp:lastModifiedBy>
  <cp:revision>1</cp:revision>
  <dcterms:created xsi:type="dcterms:W3CDTF">2026-06-02T06:14:57Z</dcterms:created>
  <dcterms:modified xsi:type="dcterms:W3CDTF">2026-06-02T06:14:57Z</dcterms:modified>
</cp:coreProperties>
</file>